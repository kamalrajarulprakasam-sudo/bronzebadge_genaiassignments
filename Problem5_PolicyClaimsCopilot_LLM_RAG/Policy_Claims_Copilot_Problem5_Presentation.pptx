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3B60EF-BAA6-056D-F4BE-CCA98A102DD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2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10360152" cy="4389120"/>
          </a:xfrm>
          <a:prstGeom prst="rect">
            <a:avLst/>
          </a:prstGeom>
          <a:solidFill>
            <a:srgbClr val="0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325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2A65A"/>
                </a:solidFill>
              </a:rPr>
              <a:t>RAG-POWERED INSURANCE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Policy &amp; Claims 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FE3EC"/>
                </a:solidFill>
              </a:rPr>
              <a:t>Your AI assistant for instant, grounded policy answers &amp; claim pre-checks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3931920"/>
            <a:ext cx="1600200" cy="384048"/>
          </a:xfrm>
          <a:prstGeom prst="rect">
            <a:avLst/>
          </a:prstGeom>
          <a:solidFill>
            <a:srgbClr val="12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3959352"/>
            <a:ext cx="1508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CFE3EC"/>
                </a:solidFill>
              </a:rPr>
              <a:t>LangChain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3931920"/>
            <a:ext cx="1600200" cy="384048"/>
          </a:xfrm>
          <a:prstGeom prst="rect">
            <a:avLst/>
          </a:prstGeom>
          <a:solidFill>
            <a:srgbClr val="12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0" y="3959352"/>
            <a:ext cx="1508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CFE3EC"/>
                </a:solidFill>
              </a:rPr>
              <a:t>FAISS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3931920"/>
            <a:ext cx="1600200" cy="384048"/>
          </a:xfrm>
          <a:prstGeom prst="rect">
            <a:avLst/>
          </a:prstGeom>
          <a:solidFill>
            <a:srgbClr val="12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1024" y="3829595"/>
            <a:ext cx="15933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CFE3EC"/>
                </a:solidFill>
              </a:rPr>
              <a:t>Se</a:t>
            </a:r>
            <a:r>
              <a:rPr sz="1400" b="1" dirty="0">
                <a:solidFill>
                  <a:srgbClr val="CFE3EC"/>
                </a:solidFill>
              </a:rPr>
              <a:t>ntence-transformers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931920"/>
            <a:ext cx="1600200" cy="384048"/>
          </a:xfrm>
          <a:prstGeom prst="rect">
            <a:avLst/>
          </a:prstGeom>
          <a:solidFill>
            <a:srgbClr val="12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59" y="3959352"/>
            <a:ext cx="1508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CFE3EC"/>
                </a:solidFill>
              </a:rPr>
              <a:t>HuggingFace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3931920"/>
            <a:ext cx="1600200" cy="384048"/>
          </a:xfrm>
          <a:prstGeom prst="rect">
            <a:avLst/>
          </a:prstGeom>
          <a:solidFill>
            <a:srgbClr val="12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01000" y="3959352"/>
            <a:ext cx="1508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CFE3EC"/>
                </a:solidFill>
              </a:rPr>
              <a:t>OpenAI / Groq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19" y="3931920"/>
            <a:ext cx="1600200" cy="384048"/>
          </a:xfrm>
          <a:prstGeom prst="rect">
            <a:avLst/>
          </a:prstGeom>
          <a:solidFill>
            <a:srgbClr val="12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92640" y="3959352"/>
            <a:ext cx="1508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 err="1">
                <a:solidFill>
                  <a:srgbClr val="CFE3EC"/>
                </a:solidFill>
              </a:rPr>
              <a:t>Gradio</a:t>
            </a:r>
            <a:endParaRPr sz="1400" b="1" dirty="0">
              <a:solidFill>
                <a:srgbClr val="CFE3EC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4663440"/>
            <a:ext cx="10360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0" dirty="0">
                <a:solidFill>
                  <a:schemeClr val="bg1"/>
                </a:solidFill>
              </a:rPr>
              <a:t>By Kamalraj Arulprakasam</a:t>
            </a:r>
            <a:endParaRPr sz="2000" b="1" i="0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CFE3EC"/>
                </a:solidFill>
              </a:rPr>
              <a:t>Retrieval-Augmented Generation  |  Vector Search  |  LLM-Grounded Answers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65A"/>
                </a:solidFill>
              </a:rPr>
              <a:t>WHY RAG?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A2A40"/>
                </a:solidFill>
              </a:rPr>
              <a:t>From hallucinated guesses to grounded, cited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457432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212080" cy="4297680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86B"/>
                </a:solidFill>
              </a:rPr>
              <a:t>WITHOUT RAG  (Plain LLM)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76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86B"/>
                </a:solidFill>
              </a:rPr>
              <a:t>•  May hallucinate / invent policy terms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2374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86B"/>
                </a:solidFill>
              </a:rPr>
              <a:t>•  No source citation — customer cannot verify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5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86B"/>
                </a:solidFill>
              </a:rPr>
              <a:t>•  Stale knowledge (training cut-off date)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18687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86B"/>
                </a:solidFill>
              </a:rPr>
              <a:t>•  Generic answers, not specific to your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59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86B"/>
                </a:solidFill>
              </a:rPr>
              <a:t>•  No claim pre-check capability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13631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86B"/>
                </a:solidFill>
              </a:rPr>
              <a:t>•  Risk of regulatory non-compliance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600200"/>
            <a:ext cx="5879592" cy="42976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16916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65A"/>
                </a:solidFill>
              </a:rPr>
              <a:t>WITH RAG  (Our Copilot)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1762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E9F0"/>
                </a:solidFill>
              </a:rPr>
              <a:t>•  Retrieves EXACT clauses from policy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52374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E9F0"/>
                </a:solidFill>
              </a:rPr>
              <a:t>•  Every answer cites section + page 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871215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E9F0"/>
                </a:solidFill>
              </a:rPr>
              <a:t>•  Always uses the live, current policy document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18687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E9F0"/>
                </a:solidFill>
              </a:rPr>
              <a:t>•  Specific to this policy — zero hallucination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56615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E9F0"/>
                </a:solidFill>
              </a:rPr>
              <a:t>•  Claim pre-check before official submission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91363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E9F0"/>
                </a:solidFill>
              </a:rPr>
              <a:t>•  Grounded, auditable, compliant responses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AB8"/>
                </a:solidFill>
              </a:rPr>
              <a:t>Policy &amp; Claims Copilot — Problem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AB8"/>
                </a:solidFill>
              </a:rPr>
              <a:t>2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65A"/>
                </a:solidFill>
              </a:rPr>
              <a:t>DEVELOPER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A2A40"/>
                </a:solidFill>
              </a:rPr>
              <a:t>A lean, open-source RAG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3566160" cy="19202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pypdf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3291840" cy="27432"/>
          </a:xfrm>
          <a:prstGeom prst="rect">
            <a:avLst/>
          </a:prstGeom>
          <a:solidFill>
            <a:srgbClr val="CF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2A65A"/>
                </a:solidFill>
              </a:rPr>
              <a:t>Parse PDF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E3EC"/>
                </a:solidFill>
              </a:rPr>
              <a:t>Preserves page metadata for citations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600200"/>
            <a:ext cx="3566160" cy="1920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LangChain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2103120"/>
            <a:ext cx="3291840" cy="27432"/>
          </a:xfrm>
          <a:prstGeom prst="rect">
            <a:avLst/>
          </a:prstGeom>
          <a:solidFill>
            <a:srgbClr val="CF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2194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2A65A"/>
                </a:solidFill>
              </a:rPr>
              <a:t>RAG 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48716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E3EC"/>
                </a:solidFill>
              </a:rPr>
              <a:t>Text splitter, retrievers, chains, prompts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600200"/>
            <a:ext cx="3566160" cy="19202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sentence-transformers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103120"/>
            <a:ext cx="3291840" cy="27432"/>
          </a:xfrm>
          <a:prstGeom prst="rect">
            <a:avLst/>
          </a:prstGeom>
          <a:solidFill>
            <a:srgbClr val="CF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2194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2A65A"/>
                </a:solidFill>
              </a:rPr>
              <a:t>Local embedding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48716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E3EC"/>
                </a:solidFill>
              </a:rPr>
              <a:t>all-MiniLM-L6-v2 · 384-dim · no API key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03320"/>
            <a:ext cx="3566160" cy="1920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79475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FAISS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06240"/>
            <a:ext cx="3291840" cy="27432"/>
          </a:xfrm>
          <a:prstGeom prst="rect">
            <a:avLst/>
          </a:prstGeom>
          <a:solidFill>
            <a:srgbClr val="CF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297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2A65A"/>
                </a:solidFill>
              </a:rPr>
              <a:t>Vector store (Facebook AI)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902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E3EC"/>
                </a:solidFill>
              </a:rPr>
              <a:t>cosine similarity · indexes all chunks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703320"/>
            <a:ext cx="3566160" cy="19202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43400" y="379475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OpenAI / Groq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206240"/>
            <a:ext cx="3291840" cy="27432"/>
          </a:xfrm>
          <a:prstGeom prst="rect">
            <a:avLst/>
          </a:prstGeom>
          <a:solidFill>
            <a:srgbClr val="CF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43400" y="4297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2A65A"/>
                </a:solidFill>
              </a:rPr>
              <a:t>LLM for answer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45902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FE3EC"/>
                </a:solidFill>
              </a:rPr>
              <a:t>GPT-3.5-turbo or Llama 3.3 70B via Groq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3703320"/>
            <a:ext cx="3566160" cy="1920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0" y="379475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Gradio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4206240"/>
            <a:ext cx="3291840" cy="27432"/>
          </a:xfrm>
          <a:prstGeom prst="rect">
            <a:avLst/>
          </a:prstGeom>
          <a:solidFill>
            <a:srgbClr val="CF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0" y="4297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2A65A"/>
                </a:solidFill>
              </a:rPr>
              <a:t>Web UI for demos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5902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E3EC"/>
                </a:solidFill>
              </a:rPr>
              <a:t>Q&amp;A + Claim Pre-Check interface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AB8"/>
                </a:solidFill>
              </a:rPr>
              <a:t>Policy &amp; Claims Copilot — Problem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AB8"/>
                </a:solidFill>
              </a:rPr>
              <a:t>3</a:t>
            </a: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65A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A2A40"/>
                </a:solidFill>
              </a:rPr>
              <a:t>How a policy PDF becomes a cited, grounded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303520" cy="347472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A40"/>
                </a:solidFill>
              </a:rPr>
              <a:t>① OFFLINE — Indexing 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4937760" cy="4572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Policy 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C7293"/>
                </a:solidFill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70048"/>
            <a:ext cx="493776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PyPDF Loader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1272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C7293"/>
                </a:solidFill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28415"/>
            <a:ext cx="4937760" cy="457200"/>
          </a:xfrm>
          <a:prstGeom prst="rect">
            <a:avLst/>
          </a:prstGeom>
          <a:solidFill>
            <a:srgbClr val="12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401568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Text Splitter (500c/80o)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785615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C7293"/>
                </a:solidFill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86783"/>
            <a:ext cx="493776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059935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 dirty="0">
                <a:solidFill>
                  <a:srgbClr val="FFFFFF"/>
                </a:solidFill>
              </a:rPr>
              <a:t>HuggingFace Embeddings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443983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C7293"/>
                </a:solidFill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45151"/>
            <a:ext cx="4937760" cy="4572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718303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FAISS Vector Index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554480"/>
            <a:ext cx="5303520" cy="347472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157276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A40"/>
                </a:solidFill>
              </a:rPr>
              <a:t>② ONLINE — Query Phase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011680"/>
            <a:ext cx="5394960" cy="457200"/>
          </a:xfrm>
          <a:prstGeom prst="rect">
            <a:avLst/>
          </a:prstGeom>
          <a:solidFill>
            <a:srgbClr val="0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208483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Customer Question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468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C7293"/>
                </a:solidFill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670048"/>
            <a:ext cx="539496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274320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Embed Query (same model)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1272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C7293"/>
                </a:solidFill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328415"/>
            <a:ext cx="5394960" cy="4572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340156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FAISS: Top-4 Similar Chunks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3785615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C7293"/>
                </a:solidFill>
              </a:rPr>
              <a:t>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986783"/>
            <a:ext cx="5394960" cy="457200"/>
          </a:xfrm>
          <a:prstGeom prst="rect">
            <a:avLst/>
          </a:prstGeom>
          <a:solidFill>
            <a:srgbClr val="12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4059935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RAG Prompt (Context + Q)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443983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C7293"/>
                </a:solidFill>
              </a:rPr>
              <a:t>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645151"/>
            <a:ext cx="539496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60" y="4718303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LLM → Grounded Answer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0680" y="4617720"/>
            <a:ext cx="868680" cy="54864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40680" y="4343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2A65A"/>
                </a:solidFill>
              </a:rPr>
              <a:t>FAISS index 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AB8"/>
                </a:solidFill>
              </a:rPr>
              <a:t>Policy &amp; Claims Copilot — Problem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AB8"/>
                </a:solidFill>
              </a:rPr>
              <a:t>4</a:t>
            </a:r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65A"/>
                </a:solidFill>
              </a:rPr>
              <a:t>STEP 1 · INGEST &amp; CHUNK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A2A40"/>
                </a:solidFill>
              </a:rPr>
              <a:t>Turning a policy document into clean, searchable chunks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303393" cy="1412098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A2A40"/>
                </a:solidFill>
              </a:rPr>
              <a:t>Why chunk?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86B"/>
                </a:solidFill>
              </a:rPr>
              <a:t>→  LLMs have limited context windows (~4,096 tokens)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134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86B"/>
                </a:solidFill>
              </a:rPr>
              <a:t>→  Retrieve only the relevant sections per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60903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86B"/>
                </a:solidFill>
              </a:rPr>
              <a:t>→  Overlap ensures no clause boundary is lost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633" y="3185157"/>
            <a:ext cx="5303520" cy="1801368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15468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A2A40"/>
                </a:solidFill>
              </a:rPr>
              <a:t>Chunking Parameters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4424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44586B"/>
                </a:solidFill>
              </a:rPr>
              <a:t>•  </a:t>
            </a:r>
            <a:r>
              <a:rPr sz="1150" b="0" i="0" dirty="0" err="1">
                <a:solidFill>
                  <a:srgbClr val="44586B"/>
                </a:solidFill>
              </a:rPr>
              <a:t>chunk_size</a:t>
            </a:r>
            <a:r>
              <a:rPr sz="1150" b="0" i="0" dirty="0">
                <a:solidFill>
                  <a:srgbClr val="44586B"/>
                </a:solidFill>
              </a:rPr>
              <a:t> = 500 chars  (~100–120 tokens per chunk)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5905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44586B"/>
                </a:solidFill>
              </a:rPr>
              <a:t>•  </a:t>
            </a:r>
            <a:r>
              <a:rPr sz="1150" b="0" i="0" dirty="0" err="1">
                <a:solidFill>
                  <a:srgbClr val="44586B"/>
                </a:solidFill>
              </a:rPr>
              <a:t>chunk_overlap</a:t>
            </a:r>
            <a:r>
              <a:rPr sz="1150" b="0" i="0" dirty="0">
                <a:solidFill>
                  <a:srgbClr val="44586B"/>
                </a:solidFill>
              </a:rPr>
              <a:t> = 80 chars  (prevents clause splits)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741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44586B"/>
                </a:solidFill>
              </a:rPr>
              <a:t>•  Separators: \n\n → \n → . → space  (priority order)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648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44586B"/>
                </a:solidFill>
              </a:rPr>
              <a:t>•  Metadata saved: source file name, section 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168971"/>
            <a:ext cx="5303520" cy="1097280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153301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A2A40"/>
                </a:solidFill>
              </a:rPr>
              <a:t>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51565"/>
            <a:ext cx="50292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50" dirty="0">
                <a:solidFill>
                  <a:srgbClr val="44586B"/>
                </a:solidFill>
              </a:rPr>
              <a:t>8-section policy document → ~28 chunks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71606"/>
            <a:ext cx="50292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50" b="0" i="0" dirty="0">
                <a:solidFill>
                  <a:srgbClr val="44586B"/>
                </a:solidFill>
              </a:rPr>
              <a:t>Each chunk = 1–2 policy clauses  (ideal RAG granularity)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157276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A40"/>
                </a:solidFill>
              </a:rPr>
              <a:t>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920240"/>
            <a:ext cx="5788152" cy="4389120"/>
          </a:xfrm>
          <a:prstGeom prst="rect">
            <a:avLst/>
          </a:prstGeom>
          <a:solidFill>
            <a:srgbClr val="0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99631" y="2011680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FE3EC"/>
                </a:solidFill>
              </a:rPr>
              <a:t>from </a:t>
            </a:r>
            <a:r>
              <a:rPr sz="1050" b="0" i="0" dirty="0" err="1">
                <a:solidFill>
                  <a:srgbClr val="CFE3EC"/>
                </a:solidFill>
              </a:rPr>
              <a:t>langchain.text_splitter</a:t>
            </a:r>
            <a:r>
              <a:rPr sz="1050" b="0" i="0" dirty="0">
                <a:solidFill>
                  <a:srgbClr val="CFE3EC"/>
                </a:solidFill>
              </a:rPr>
              <a:t> import \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1" y="2258568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    RecursiveCharacterTextSplitter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1" y="2505456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99631" y="2752344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# Load policy 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1" y="2999232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with open("health_insurance_policy.txt") as f: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1" y="3246120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    raw_text = f.read()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1" y="3493008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99631" y="3739896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FE3EC"/>
                </a:solidFill>
              </a:rPr>
              <a:t># Wrap as LangChain Document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1" y="3986783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doc = Document(page_content=raw_text,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1" y="4233671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    metadata={"source": "policy.txt"})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1" y="4480559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99631" y="4727447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# Configure splitter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9631" y="4974335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splitter = RecursiveCharacterTextSplitter(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1" y="5221223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    chunk_size=500,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9631" y="5468111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    chunk_overlap=80,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1" y="5714999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    separators=["\\n\\n", "\\n", ".", " "]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9631" y="5961887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9631" y="6208775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99631" y="6455663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# Split into chunks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9631" y="6702551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chunks = splitter.split_documents([doc])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1" y="6949439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# → 28 chunks created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AB8"/>
                </a:solidFill>
              </a:rPr>
              <a:t>Policy &amp; Claims Copilot — Problem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AB8"/>
                </a:solidFill>
              </a:rPr>
              <a:t>5</a:t>
            </a:r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65A"/>
                </a:solidFill>
              </a:rPr>
              <a:t>STEP 2 · EMBED &amp;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A2A40"/>
                </a:solidFill>
              </a:rPr>
              <a:t>Turning text chunks into searchable vectors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486400" cy="2331720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A40"/>
                </a:solidFill>
              </a:rPr>
              <a:t>Embedding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7293"/>
                </a:solidFill>
              </a:rPr>
              <a:t>sentence-transformers/all-MiniLM-L6-v2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586B"/>
                </a:solidFill>
              </a:rPr>
              <a:t>✓  384-dimensional dense embeddings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249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586B"/>
                </a:solidFill>
              </a:rPr>
              <a:t>✓  Trained on MS-MARCO — optimized for Q&amp;A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586B"/>
                </a:solidFill>
              </a:rPr>
              <a:t>✓  Runs 100% locally — NO API key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586B"/>
                </a:solidFill>
              </a:rPr>
              <a:t>✓  ~90 MB download, cached after first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673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586B"/>
                </a:solidFill>
              </a:rPr>
              <a:t>✓  L2-normalized → enables cosine similarity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5486400" cy="18288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0233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65A"/>
                </a:solidFill>
              </a:rPr>
              <a:t>FAISS Vector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074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CE9F0"/>
                </a:solidFill>
              </a:rPr>
              <a:t>→  Facebook AI Similarity Search — battle-tested at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548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CE9F0"/>
                </a:solidFill>
              </a:rPr>
              <a:t>→  Indexes all 28 chunk vectors in-memory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023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CE9F0"/>
                </a:solidFill>
              </a:rPr>
              <a:t>→  Query: embed the question → find K nearest chunks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98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CE9F0"/>
                </a:solidFill>
              </a:rPr>
              <a:t>→  Persisted to disk (faiss_policy_index/) for reuse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57276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A40"/>
                </a:solidFill>
              </a:rPr>
              <a:t>Code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920240"/>
            <a:ext cx="5605272" cy="4663440"/>
          </a:xfrm>
          <a:prstGeom prst="rect">
            <a:avLst/>
          </a:prstGeom>
          <a:solidFill>
            <a:srgbClr val="0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2011680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FE3EC"/>
                </a:solidFill>
              </a:rPr>
              <a:t>from </a:t>
            </a:r>
            <a:r>
              <a:rPr sz="1050" b="0" i="0" dirty="0" err="1">
                <a:solidFill>
                  <a:srgbClr val="CFE3EC"/>
                </a:solidFill>
              </a:rPr>
              <a:t>langchain_community.embeddings</a:t>
            </a:r>
            <a:r>
              <a:rPr sz="1050" b="0" i="0" dirty="0">
                <a:solidFill>
                  <a:srgbClr val="CFE3EC"/>
                </a:solidFill>
              </a:rPr>
              <a:t> import \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258568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    HuggingFaceEmbeddings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05456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CFE3EC"/>
                </a:solidFill>
              </a:rPr>
              <a:t>from </a:t>
            </a:r>
            <a:r>
              <a:rPr sz="1050" b="0" i="0" dirty="0" err="1">
                <a:solidFill>
                  <a:srgbClr val="CFE3EC"/>
                </a:solidFill>
              </a:rPr>
              <a:t>langchain_community.vectorstores</a:t>
            </a:r>
            <a:r>
              <a:rPr sz="1050" b="0" i="0" dirty="0">
                <a:solidFill>
                  <a:srgbClr val="CFE3EC"/>
                </a:solidFill>
              </a:rPr>
              <a:t> import FAISS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752344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82512" y="2999232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# Load local embedding model (no API key)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3246120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embeddings = HuggingFaceEmbeddings(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3493008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    model_name="sentence-transformers/all-MiniLM-L6-v2",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3739896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    model_kwargs={"device": "cpu"},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3986783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    encode_kwargs={"normalize_embeddings": True}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4233671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4480559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82512" y="4727447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# Build FAISS index from all chunks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4974335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vectorstore = FAISS.from_documents(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5221223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    documents=chunks,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5468111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    embedding=embeddings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5714999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5961887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82512" y="6208775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# Save to disk for reuse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6455663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vectorstore.save_local("faiss_policy_index")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6702551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# → 28 vectors indexed (384-dim each)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AB8"/>
                </a:solidFill>
              </a:rPr>
              <a:t>Policy &amp; Claims Copilot — Problem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AB8"/>
                </a:solidFill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65A"/>
                </a:solidFill>
              </a:rPr>
              <a:t>STEP 3 · RETRIEVE &amp; GENERATE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A2A40"/>
                </a:solidFill>
              </a:rPr>
              <a:t>Grounded generation — policy-cited answers 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2148840" cy="15087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66420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2A65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22128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Customer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65176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FE3EC"/>
                </a:solidFill>
              </a:rPr>
              <a:t>Natural language question from customer/agent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1488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C7293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1600200"/>
            <a:ext cx="2148840" cy="1508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166420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2A65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7208" y="22128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Embed 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265176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FE3EC"/>
                </a:solidFill>
              </a:rPr>
              <a:t>Same embedding model converts question to 384-dim vector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1488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C7293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1600200"/>
            <a:ext cx="2148840" cy="1508760"/>
          </a:xfrm>
          <a:prstGeom prst="rect">
            <a:avLst/>
          </a:prstGeom>
          <a:solidFill>
            <a:srgbClr val="12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66360" y="166420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2A65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22128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FAISS Top-4 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65176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FE3EC"/>
                </a:solidFill>
              </a:rPr>
              <a:t>Cosine similarity → returns 4 most relevant chunks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1488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C7293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1600200"/>
            <a:ext cx="2148840" cy="1508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43800" y="166420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2A65A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22128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RAG Prompt Assembly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265176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FE3EC"/>
                </a:solidFill>
              </a:rPr>
              <a:t>Context (chunks) + Question → formatted prompt template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1488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C7293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29800" y="1600200"/>
            <a:ext cx="2148840" cy="1508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21240" y="166420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2A65A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39528" y="22128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LLM → Grounded Answer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9528" y="265176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FE3EC"/>
                </a:solidFill>
              </a:rPr>
              <a:t>GPT-3.5 / Groq answers ONLY from retrieved context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337560"/>
            <a:ext cx="11430000" cy="347472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33649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A2A40"/>
                </a:solidFill>
              </a:rPr>
              <a:t>Custom RAG Prompt Template  (key to preventing hallucination)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749039"/>
            <a:ext cx="11430000" cy="2606040"/>
          </a:xfrm>
          <a:prstGeom prst="rect">
            <a:avLst/>
          </a:prstGeom>
          <a:solidFill>
            <a:srgbClr val="0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0352" y="3840479"/>
            <a:ext cx="11201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RAG_PROMPT = """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4087367"/>
            <a:ext cx="11201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You are an Insurance Policy Assistant for HealthSure.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4334255"/>
            <a:ext cx="11201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Answer ONLY from the policy context below. Do NOT use outside knowledge.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581143"/>
            <a:ext cx="11201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Always cite the relevant section number (e.g. "Per Section 3.2...").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4828031"/>
            <a:ext cx="11201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0352" y="5074919"/>
            <a:ext cx="11201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POLICY CONTEXT (retrieved relevant sections):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5321807"/>
            <a:ext cx="11201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{context}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5568695"/>
            <a:ext cx="11201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0352" y="5815583"/>
            <a:ext cx="11201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CUSTOMER QUESTION: {question}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6062471"/>
            <a:ext cx="11201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ANSWER (cite section numbers):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6309359"/>
            <a:ext cx="11201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FE3EC"/>
                </a:solidFill>
              </a:rPr>
              <a:t>"""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AB8"/>
                </a:solidFill>
              </a:rPr>
              <a:t>Policy &amp; Claims Copilot — Problem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AB8"/>
                </a:solidFill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65A"/>
                </a:solidFill>
              </a:rPr>
              <a:t>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A2A40"/>
                </a:solidFill>
              </a:rPr>
              <a:t>Sample health insurance policy — 8 sections indexed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3566160" cy="157276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" y="167335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A65A"/>
                </a:solidFill>
              </a:rPr>
              <a:t>Section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9202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Coverage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313432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FE3EC"/>
                </a:solidFill>
              </a:rPr>
              <a:t>Sum insured, hospitalization, day care, AYUSH, sub-limits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600200"/>
            <a:ext cx="3566160" cy="15727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61688" y="167335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A65A"/>
                </a:solidFill>
              </a:rPr>
              <a:t>Section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19202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Exclusions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313432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FE3EC"/>
                </a:solidFill>
              </a:rPr>
              <a:t>Permanent exclusions, waiting periods (PED 36m, listed 24m)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600200"/>
            <a:ext cx="3566160" cy="157276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7" y="167335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A65A"/>
                </a:solidFill>
              </a:rPr>
              <a:t>Section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7" y="19202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Claims Procedure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7" y="2313432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FE3EC"/>
                </a:solidFill>
              </a:rPr>
              <a:t>Cashless (5 steps) + Reimbursement (5 steps), docs required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429000"/>
            <a:ext cx="3566160" cy="15727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9768" y="350215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A65A"/>
                </a:solidFill>
              </a:rPr>
              <a:t>Section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3749039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Timelines &amp; SLA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4142232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FE3EC"/>
                </a:solidFill>
              </a:rPr>
              <a:t>24h intimation, 2h cashless approval, 30-day settlement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3429000"/>
            <a:ext cx="3566160" cy="157276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61688" y="350215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A65A"/>
                </a:solidFill>
              </a:rPr>
              <a:t>Section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3749039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Premium &amp; Renewal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142232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FE3EC"/>
                </a:solidFill>
              </a:rPr>
              <a:t>Grace period 30 days, no-claim bonus 5%/yr, free look 15d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3429000"/>
            <a:ext cx="3566160" cy="15727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93607" y="350215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A65A"/>
                </a:solidFill>
              </a:rPr>
              <a:t>Section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7" y="3749039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Co-Payment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7" y="4142232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FE3EC"/>
                </a:solidFill>
              </a:rPr>
              <a:t>0% / 10% / 20% co-pay options, 20% compulsory for 60+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257800"/>
            <a:ext cx="3566160" cy="157276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9768" y="533095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A65A"/>
                </a:solidFill>
              </a:rPr>
              <a:t>Section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" y="55778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Network Hospitals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" y="5971032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FE3EC"/>
                </a:solidFill>
              </a:rPr>
              <a:t>8,000+ hospitals, cashless only at network hospitals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5257800"/>
            <a:ext cx="3566160" cy="15727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61688" y="533095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A65A"/>
                </a:solidFill>
              </a:rPr>
              <a:t>Section 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1688" y="55778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Contact Information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1688" y="5971032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FE3EC"/>
                </a:solidFill>
              </a:rPr>
              <a:t>TPA helpline 24x7, claims email, IRDAI helpline 155255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AB8"/>
                </a:solidFill>
              </a:rPr>
              <a:t>Policy &amp; Claims Copilot — Problem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AB8"/>
                </a:solidFill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65A"/>
                </a:solidFill>
              </a:rPr>
              <a:t>UNIQUE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A2A40"/>
                </a:solidFill>
              </a:rPr>
              <a:t>Claim Pre-Check — Know before you submit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11430000" cy="731520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276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2A40"/>
                </a:solidFill>
              </a:rPr>
              <a:t>Customers describe their medical scenario → Copilot checks against policy → Returns COVERED / NOT COVERED / WAITING PERIOD verdict before they 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423160"/>
            <a:ext cx="3794760" cy="3429000"/>
          </a:xfrm>
          <a:prstGeom prst="rect">
            <a:avLst/>
          </a:prstGeom>
          <a:solidFill>
            <a:srgbClr val="12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487168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A65A"/>
                </a:solidFill>
              </a:rPr>
              <a:t>Scenario 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3520440" cy="685800"/>
          </a:xfrm>
          <a:prstGeom prst="rect">
            <a:avLst/>
          </a:prstGeom>
          <a:solidFill>
            <a:srgbClr val="0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2A65A"/>
                </a:solidFill>
              </a:rPr>
              <a:t>SUBJECT TO
WAITING 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47872"/>
            <a:ext cx="3520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CFE3EC"/>
                </a:solidFill>
              </a:rPr>
              <a:t>"I was diagnosed with diabetes 2 years ago and now need kidney dialysis. Policy is 1 year old."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72"/>
            <a:ext cx="3520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E9F0"/>
                </a:solidFill>
              </a:rPr>
              <a:t>PED: 36-month waiting period not met (only 1 year). Section 2.2 applies.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2423160"/>
            <a:ext cx="3794760" cy="3429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2487168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A65A"/>
                </a:solidFill>
              </a:rPr>
              <a:t>Scenario 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2788920"/>
            <a:ext cx="3520440" cy="685800"/>
          </a:xfrm>
          <a:prstGeom prst="rect">
            <a:avLst/>
          </a:prstGeom>
          <a:solidFill>
            <a:srgbClr val="0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59" y="283464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90EE90"/>
                </a:solidFill>
              </a:rPr>
              <a:t>LIKELY
COVERED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547872"/>
            <a:ext cx="3520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CFE3EC"/>
                </a:solidFill>
              </a:rPr>
              <a:t>"I had an emergency appendectomy last week. Insured for 3 years."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462272"/>
            <a:ext cx="3520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E9F0"/>
                </a:solidFill>
              </a:rPr>
              <a:t>Emergency hospitalization covered. Section 1.2 + 3.1 apply. Docs: discharge summary, bills, ID.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19" y="2423160"/>
            <a:ext cx="3794760" cy="3429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2487168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A65A"/>
                </a:solidFill>
              </a:rPr>
              <a:t>Scenario 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2788920"/>
            <a:ext cx="3520440" cy="685800"/>
          </a:xfrm>
          <a:prstGeom prst="rect">
            <a:avLst/>
          </a:prstGeom>
          <a:solidFill>
            <a:srgbClr val="0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58199" y="283464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CCCC"/>
                </a:solidFill>
              </a:rPr>
              <a:t>LIKELY
NOT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547872"/>
            <a:ext cx="3520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CFE3EC"/>
                </a:solidFill>
              </a:rPr>
              <a:t>"I need dental implants after a car accident injury."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462272"/>
            <a:ext cx="3520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E9F0"/>
                </a:solidFill>
              </a:rPr>
              <a:t>Dental is excluded (Section 2.1) UNLESS requiring hospitalization. Accident dental = check with TPA.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AB8"/>
                </a:solidFill>
              </a:rPr>
              <a:t>Policy &amp; Claims Copilot — Problem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AB8"/>
                </a:solidFill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64008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2A65A"/>
                </a:solidFill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88720"/>
            <a:ext cx="121889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Ask a question, get a cited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5029200" cy="393192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084831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A65A"/>
                </a:solidFill>
              </a:rPr>
              <a:t>User 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50592"/>
            <a:ext cx="4663440" cy="658368"/>
          </a:xfrm>
          <a:prstGeom prst="rect">
            <a:avLst/>
          </a:prstGeom>
          <a:solidFill>
            <a:srgbClr val="12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CFE3EC"/>
                </a:solidFill>
              </a:rPr>
              <a:t>What is the waiting period for pre-existing diseases?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00400"/>
            <a:ext cx="466344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● Policy Q&amp;A       ○ Claim Pre-Check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30752"/>
            <a:ext cx="466344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60320" y="379476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Submit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577840" cy="393192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2084831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A65A"/>
                </a:solidFill>
              </a:rPr>
              <a:t>Copilot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4688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E9F0"/>
                </a:solidFill>
              </a:rPr>
              <a:t>Per Section 2.2 of the HealthSure policy: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7157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2200" y="29626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E9F0"/>
                </a:solidFill>
              </a:rPr>
              <a:t>• Pre-existing diseases (PED) have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20954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E9F0"/>
                </a:solidFill>
              </a:rPr>
              <a:t>  36-month waiting period from policy start.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4564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72200" y="3703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E9F0"/>
                </a:solidFill>
              </a:rPr>
              <a:t>• Specific listed conditions (hernia, cataracts,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9502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E9F0"/>
                </a:solidFill>
              </a:rPr>
              <a:t>  knee replacement, etc.) have a 24-month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1970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E9F0"/>
                </a:solidFill>
              </a:rPr>
              <a:t>  waiting period.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44398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72200" y="4690871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E9F0"/>
                </a:solidFill>
              </a:rPr>
              <a:t>• The initial 30-day waiting period applies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9377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E9F0"/>
                </a:solidFill>
              </a:rPr>
              <a:t>  to all conditions (except accidents).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5184647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72200" y="5431535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E9F0"/>
                </a:solidFill>
              </a:rPr>
              <a:t>[Source: policy.txt | Section 2.2 | Page 2]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AAB8"/>
                </a:solidFill>
              </a:rPr>
              <a:t>PolicyGenie — Policy &amp; Claims Copilot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65A"/>
                </a:solidFill>
              </a:rPr>
              <a:t>SAMPLE Q&amp;A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A2A40"/>
                </a:solidFill>
              </a:rPr>
              <a:t>8 customer queries — answered with section citations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572768"/>
            <a:ext cx="5440680" cy="1115568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572768"/>
            <a:ext cx="544068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" y="16642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2A40"/>
                </a:solidFill>
              </a:rPr>
              <a:t>Q: What is the waiting period for pre-existing diseases?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10312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86B"/>
                </a:solidFill>
              </a:rPr>
              <a:t>A: Per Sec 2.2: 36-month waiting period from policy start date.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72768"/>
            <a:ext cx="5440680" cy="1115568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572768"/>
            <a:ext cx="544068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81928" y="16642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2A40"/>
                </a:solidFill>
              </a:rPr>
              <a:t>Q: What documents are needed for a reimbursement claim?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210312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86B"/>
                </a:solidFill>
              </a:rPr>
              <a:t>A: Per Sec 3.3: Claim form, discharge summary, original bills, investigation reports, photo ID.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779776"/>
            <a:ext cx="5440680" cy="1115568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2779776"/>
            <a:ext cx="544068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" y="287121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2A40"/>
                </a:solidFill>
              </a:rPr>
              <a:t>Q: Is dental treatment covered?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3310128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86B"/>
                </a:solidFill>
              </a:rPr>
              <a:t>A: Per Sec 2.1: Dental is a PERMANENT EXCLUSION (unless hospitalization due to accident).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779776"/>
            <a:ext cx="5440680" cy="1115568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2779776"/>
            <a:ext cx="544068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81928" y="287121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2A40"/>
                </a:solidFill>
              </a:rPr>
              <a:t>Q: How much is covered for cataract surgery?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3310128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86B"/>
                </a:solidFill>
              </a:rPr>
              <a:t>A: Per Sec 1.3: Sub-limit of Rs. 40,000 per eye per policy year applies.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986784"/>
            <a:ext cx="5440680" cy="1115568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3986784"/>
            <a:ext cx="544068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9768" y="407822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2A40"/>
                </a:solidFill>
              </a:rPr>
              <a:t>Q: Deadline to submit a claim after discharge?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4517136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86B"/>
                </a:solidFill>
              </a:rPr>
              <a:t>A: Per Sec 3.2 + 4.1: Submit within 15 days of discharge for reimbursement.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986784"/>
            <a:ext cx="5440680" cy="1115568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3986784"/>
            <a:ext cx="544068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81928" y="407822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2A40"/>
                </a:solidFill>
              </a:rPr>
              <a:t>Q: Can I get cashless treatment at any hospital?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1928" y="4517136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86B"/>
                </a:solidFill>
              </a:rPr>
              <a:t>A: Per Sec 7.1-7.2: Cashless only at 8,000+ network hospitals. Reimbursement at others.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193792"/>
            <a:ext cx="5440680" cy="1115568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5193792"/>
            <a:ext cx="544068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9768" y="5285231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2A40"/>
                </a:solidFill>
              </a:rPr>
              <a:t>Q: Is mental health treatment covered?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" y="5724144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86B"/>
                </a:solidFill>
              </a:rPr>
              <a:t>A: Per Sec 1.2: Yes — hospitalization for mental illness is COVERED.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5193792"/>
            <a:ext cx="5440680" cy="1115568"/>
          </a:xfrm>
          <a:prstGeom prst="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72200" y="5193792"/>
            <a:ext cx="544068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81928" y="5285231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2A40"/>
                </a:solidFill>
              </a:rPr>
              <a:t>Q: What happens if I miss the renewal date?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5724144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86B"/>
                </a:solidFill>
              </a:rPr>
              <a:t>A: Per Sec 5.2: 30-day grace period applies. Policy lapses after that.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AB8"/>
                </a:solidFill>
              </a:rPr>
              <a:t>Policy &amp; Claims Copilot — Problem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AB8"/>
                </a:solidFill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65A"/>
                </a:solidFill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A2A40"/>
                </a:solidFill>
              </a:rPr>
              <a:t>What this Copilot delivers for the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2788920" cy="4572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Instant Answers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76272"/>
            <a:ext cx="2514600" cy="27432"/>
          </a:xfrm>
          <a:prstGeom prst="rect">
            <a:avLst/>
          </a:prstGeom>
          <a:solidFill>
            <a:srgbClr val="CF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3EC"/>
                </a:solidFill>
              </a:rPr>
              <a:t>• No call-center wait (2–5 min → instant)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3EC"/>
                </a:solidFill>
              </a:rPr>
              <a:t>• 24x7 availability, zero queues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3EC"/>
                </a:solidFill>
              </a:rPr>
              <a:t>• Same answer every time (consistent)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00200"/>
            <a:ext cx="2788920" cy="4572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1691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Fewer Rejections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176272"/>
            <a:ext cx="2514600" cy="27432"/>
          </a:xfrm>
          <a:prstGeom prst="rect">
            <a:avLst/>
          </a:prstGeom>
          <a:solidFill>
            <a:srgbClr val="CF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29000" y="22860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3EC"/>
                </a:solidFill>
              </a:rPr>
              <a:t>• Claim pre-check before submission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7432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3EC"/>
                </a:solidFill>
              </a:rPr>
              <a:t>• First-time-right rate: ~65% → ~85%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2004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3EC"/>
                </a:solidFill>
              </a:rPr>
              <a:t>• Reduces invalid/incomplete claims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600200"/>
            <a:ext cx="2788920" cy="4572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1691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Lighter Call Center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176272"/>
            <a:ext cx="2514600" cy="27432"/>
          </a:xfrm>
          <a:prstGeom prst="rect">
            <a:avLst/>
          </a:prstGeom>
          <a:solidFill>
            <a:srgbClr val="CF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22860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3EC"/>
                </a:solidFill>
              </a:rPr>
              <a:t>• ~40% of enquiries handled by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7432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3EC"/>
                </a:solidFill>
              </a:rPr>
              <a:t>• Agents focus on complex escalations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2004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3EC"/>
                </a:solidFill>
              </a:rPr>
              <a:t>• Estimated cost savings: significant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1600200"/>
            <a:ext cx="2788920" cy="4572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72600" y="1691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Grounded &amp; Compliant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72600" y="2176272"/>
            <a:ext cx="2514600" cy="27432"/>
          </a:xfrm>
          <a:prstGeom prst="rect">
            <a:avLst/>
          </a:prstGeom>
          <a:solidFill>
            <a:srgbClr val="CF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72600" y="22860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3EC"/>
                </a:solidFill>
              </a:rPr>
              <a:t>• Answers cite exact section + page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7432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3EC"/>
                </a:solidFill>
              </a:rPr>
              <a:t>• Zero hallucination — policy-only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2004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3EC"/>
                </a:solidFill>
              </a:rPr>
              <a:t>• Auditable evidence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AB8"/>
                </a:solidFill>
              </a:rPr>
              <a:t>Policy &amp; Claims Copilot — Problem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AB8"/>
                </a:solidFill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65A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A2A40"/>
                </a:solidFill>
              </a:rPr>
              <a:t>Scaling up: from notebook to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429000" cy="4572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2A65A"/>
                </a:solidFill>
              </a:rPr>
              <a:t>Phase 1
(Done)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3063240" cy="36576"/>
          </a:xfrm>
          <a:prstGeom prst="rect">
            <a:avLst/>
          </a:prstGeom>
          <a:solidFill>
            <a:srgbClr val="CF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3EC"/>
                </a:solidFill>
              </a:rPr>
              <a:t>✓ Policy text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5292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3EC"/>
                </a:solidFill>
              </a:rPr>
              <a:t>✓ FAISS vector 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36976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3EC"/>
                </a:solidFill>
              </a:rPr>
              <a:t>✓ RAG Q&amp;A 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210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3EC"/>
                </a:solidFill>
              </a:rPr>
              <a:t>✓ Claim pre-check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0507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3EC"/>
                </a:solidFill>
              </a:rPr>
              <a:t>✓ Gradio demo 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3088" y="1600200"/>
            <a:ext cx="3429000" cy="4572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15968" y="169164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2A65A"/>
                </a:solidFill>
              </a:rPr>
              <a:t>Phase 2
(Next Sprint)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2331720"/>
            <a:ext cx="3063240" cy="36576"/>
          </a:xfrm>
          <a:prstGeom prst="rect">
            <a:avLst/>
          </a:prstGeom>
          <a:solidFill>
            <a:srgbClr val="CF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15968" y="246888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3EC"/>
                </a:solidFill>
              </a:rPr>
              <a:t>→ Real PDF loader (PyPDF)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285292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3EC"/>
                </a:solidFill>
              </a:rPr>
              <a:t>→ Page-level metadata citations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3236976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3EC"/>
                </a:solidFill>
              </a:rPr>
              <a:t>→ Multi-document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36210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CFE3EC"/>
                </a:solidFill>
              </a:rPr>
              <a:t>→ Groq Llama 3.3 70B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400507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3EC"/>
                </a:solidFill>
              </a:rPr>
              <a:t>→ WhatsApp / SMS interface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0416" y="1600200"/>
            <a:ext cx="3429000" cy="4572000"/>
          </a:xfrm>
          <a:prstGeom prst="rect">
            <a:avLst/>
          </a:prstGeom>
          <a:solidFill>
            <a:srgbClr val="12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83296" y="169164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2A65A"/>
                </a:solidFill>
              </a:rPr>
              <a:t>Phase 3
(Production)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83296" y="2331720"/>
            <a:ext cx="3063240" cy="36576"/>
          </a:xfrm>
          <a:prstGeom prst="rect">
            <a:avLst/>
          </a:prstGeom>
          <a:solidFill>
            <a:srgbClr val="CF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83296" y="246888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3EC"/>
                </a:solidFill>
              </a:rPr>
              <a:t>→ REST API (FastAPI)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285292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3EC"/>
                </a:solidFill>
              </a:rPr>
              <a:t>→ ChromaDB for hybrid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236976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3EC"/>
                </a:solidFill>
              </a:rPr>
              <a:t>→ Multi-language (Hindi, Tamil)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36210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3EC"/>
                </a:solidFill>
              </a:rPr>
              <a:t>→ Voice interface (Whisper)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400507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FE3EC"/>
                </a:solidFill>
              </a:rPr>
              <a:t>→ Admin dashboard &amp;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AB8"/>
                </a:solidFill>
              </a:rPr>
              <a:t>Policy &amp; Claims Copilot — Problem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AB8"/>
                </a:solidFill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2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146304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4688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2A65A"/>
                </a:solidFill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291840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FE3EC"/>
                </a:solidFill>
              </a:rPr>
              <a:t>Project: Policy &amp; Claims Copilot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886200"/>
            <a:ext cx="8531352" cy="502920"/>
          </a:xfrm>
          <a:prstGeom prst="rect">
            <a:avLst/>
          </a:prstGeom>
          <a:solidFill>
            <a:srgbClr val="12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3931920"/>
            <a:ext cx="853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CFE3EC"/>
                </a:solidFill>
              </a:rPr>
              <a:t>LangChain  ·  FAISS  ·  sentence-transformers/all-MiniLM-L6-v2  ·  OpenAI GPT-3.5  ·  </a:t>
            </a:r>
            <a:r>
              <a:rPr sz="1600" b="0" i="0" dirty="0" err="1">
                <a:solidFill>
                  <a:srgbClr val="CFE3EC"/>
                </a:solidFill>
              </a:rPr>
              <a:t>Gradio</a:t>
            </a:r>
            <a:endParaRPr sz="1600" b="0" i="0" dirty="0">
              <a:solidFill>
                <a:srgbClr val="CFE3EC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4754880"/>
            <a:ext cx="121889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By Kamalraj Arulprakasam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FE3EC"/>
                </a:solidFill>
              </a:rPr>
              <a:t>Retrieval-Augmented Generation  |  Grounded AI  |  Zero Hallucination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1861</Words>
  <Application>Microsoft Office PowerPoint</Application>
  <PresentationFormat>Custom</PresentationFormat>
  <Paragraphs>307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Kamalraj Arulprakasam</cp:lastModifiedBy>
  <cp:revision>3</cp:revision>
  <dcterms:created xsi:type="dcterms:W3CDTF">2013-01-27T09:14:16Z</dcterms:created>
  <dcterms:modified xsi:type="dcterms:W3CDTF">2026-08-11T08:52:38Z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73606040-a561-4fe4-beb6-227f022186d7</vt:lpwstr>
  </property>
  <property fmtid="{D5CDD505-2E9C-101B-9397-08002B2CF9AE}" pid="3" name="HCLClassD6">
    <vt:lpwstr>False</vt:lpwstr>
  </property>
  <property fmtid="{D5CDD505-2E9C-101B-9397-08002B2CF9AE}" pid="4" name="HCLClassification">
    <vt:lpwstr>HCL_Cla5s_P3rs0nalUs3</vt:lpwstr>
  </property>
  <property fmtid="{D5CDD505-2E9C-101B-9397-08002B2CF9AE}" pid="5" name="MSIP_Label_556dfe78-8a37-4fb5-b4aa-b92b97e18d15_Enabled">
    <vt:lpwstr>true</vt:lpwstr>
  </property>
  <property fmtid="{D5CDD505-2E9C-101B-9397-08002B2CF9AE}" pid="6" name="MSIP_Label_556dfe78-8a37-4fb5-b4aa-b92b97e18d15_SetDate">
    <vt:lpwstr>2026-08-11T08:47:15Z</vt:lpwstr>
  </property>
  <property fmtid="{D5CDD505-2E9C-101B-9397-08002B2CF9AE}" pid="7" name="MSIP_Label_556dfe78-8a37-4fb5-b4aa-b92b97e18d15_Method">
    <vt:lpwstr>Standard</vt:lpwstr>
  </property>
  <property fmtid="{D5CDD505-2E9C-101B-9397-08002B2CF9AE}" pid="8" name="MSIP_Label_556dfe78-8a37-4fb5-b4aa-b92b97e18d15_Name">
    <vt:lpwstr>Internal</vt:lpwstr>
  </property>
  <property fmtid="{D5CDD505-2E9C-101B-9397-08002B2CF9AE}" pid="9" name="MSIP_Label_556dfe78-8a37-4fb5-b4aa-b92b97e18d15_SiteId">
    <vt:lpwstr>189de737-c93a-4f5a-8b68-6f4ca9941912</vt:lpwstr>
  </property>
  <property fmtid="{D5CDD505-2E9C-101B-9397-08002B2CF9AE}" pid="10" name="MSIP_Label_556dfe78-8a37-4fb5-b4aa-b92b97e18d15_ActionId">
    <vt:lpwstr>72b088c7-768a-46d5-9537-1e5051220c8e</vt:lpwstr>
  </property>
  <property fmtid="{D5CDD505-2E9C-101B-9397-08002B2CF9AE}" pid="11" name="MSIP_Label_556dfe78-8a37-4fb5-b4aa-b92b97e18d15_ContentBits">
    <vt:lpwstr>1</vt:lpwstr>
  </property>
  <property fmtid="{D5CDD505-2E9C-101B-9397-08002B2CF9AE}" pid="12" name="MSIP_Label_556dfe78-8a37-4fb5-b4aa-b92b97e18d15_Tag">
    <vt:lpwstr>10, 3, 0, 1</vt:lpwstr>
  </property>
  <property fmtid="{D5CDD505-2E9C-101B-9397-08002B2CF9AE}" pid="13" name="ClassificationContentMarkingHeaderLocations">
    <vt:lpwstr>Office Theme:8</vt:lpwstr>
  </property>
  <property fmtid="{D5CDD505-2E9C-101B-9397-08002B2CF9AE}" pid="14" name="ClassificationContentMarkingHeaderText">
    <vt:lpwstr>Classification: Internal</vt:lpwstr>
  </property>
</Properties>
</file>